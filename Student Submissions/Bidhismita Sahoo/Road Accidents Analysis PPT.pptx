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92" r:id="rId5"/>
    <p:sldId id="302" r:id="rId6"/>
    <p:sldId id="295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E0EB"/>
    <a:srgbClr val="D84400"/>
    <a:srgbClr val="446992"/>
    <a:srgbClr val="AEC2D8"/>
    <a:srgbClr val="98432A"/>
    <a:srgbClr val="44678D"/>
    <a:srgbClr val="263E5A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39" autoAdjust="0"/>
  </p:normalViewPr>
  <p:slideViewPr>
    <p:cSldViewPr snapToGrid="0" showGuides="1">
      <p:cViewPr varScale="1">
        <p:scale>
          <a:sx n="78" d="100"/>
          <a:sy n="78" d="100"/>
        </p:scale>
        <p:origin x="878" y="43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4/9/2026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4/9/2026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4331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389120" cy="2103120"/>
          </a:xfrm>
        </p:spPr>
        <p:txBody>
          <a:bodyPr anchor="b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3123E-E3E0-5E2A-E1FB-EC28A2C68E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108960"/>
            <a:ext cx="4389120" cy="192024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0A6B95-C59B-C125-7957-8C41B378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367528" cy="52120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8CD2E87-8426-FC12-6665-A6E2F64FEA93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-9525" y="5039331"/>
            <a:ext cx="986377" cy="128016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D35CF771-1335-6C94-6AA8-AF68EADDDF00}"/>
              </a:ext>
            </a:extLst>
          </p:cNvPr>
          <p:cNvSpPr/>
          <p:nvPr userDrawn="1"/>
        </p:nvSpPr>
        <p:spPr>
          <a:xfrm>
            <a:off x="1140014" y="5142797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90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69" r:id="rId4"/>
    <p:sldLayoutId id="2147483655" r:id="rId5"/>
    <p:sldLayoutId id="2147483651" r:id="rId6"/>
    <p:sldLayoutId id="2147483662" r:id="rId7"/>
    <p:sldLayoutId id="2147483672" r:id="rId8"/>
    <p:sldLayoutId id="2147483653" r:id="rId9"/>
    <p:sldLayoutId id="2147483663" r:id="rId10"/>
    <p:sldLayoutId id="214748366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lIns="0" anchor="b" anchorCtr="0">
            <a:normAutofit/>
          </a:bodyPr>
          <a:lstStyle/>
          <a:p>
            <a:pPr algn="ctr"/>
            <a:r>
              <a:rPr lang="en-US" sz="4000" u="sng" dirty="0">
                <a:solidFill>
                  <a:srgbClr val="D6E0EB"/>
                </a:solidFill>
                <a:latin typeface="Algerian" panose="04020705040A02060702" pitchFamily="82" charset="0"/>
              </a:rPr>
              <a:t>“Road Accidents”</a:t>
            </a:r>
            <a:br>
              <a:rPr lang="en-US" sz="4000" u="sng" dirty="0">
                <a:solidFill>
                  <a:srgbClr val="D6E0EB"/>
                </a:solidFill>
                <a:latin typeface="Algerian" panose="04020705040A02060702" pitchFamily="82" charset="0"/>
              </a:rPr>
            </a:br>
            <a:r>
              <a:rPr lang="en-US" sz="4000" u="sng" dirty="0">
                <a:solidFill>
                  <a:srgbClr val="D6E0EB"/>
                </a:solidFill>
                <a:latin typeface="Algerian" panose="04020705040A02060702" pitchFamily="82" charset="0"/>
              </a:rPr>
              <a:t>&amp;</a:t>
            </a:r>
            <a:br>
              <a:rPr lang="en-US" sz="4000" u="sng" dirty="0">
                <a:solidFill>
                  <a:srgbClr val="D6E0EB"/>
                </a:solidFill>
                <a:latin typeface="Algerian" panose="04020705040A02060702" pitchFamily="82" charset="0"/>
              </a:rPr>
            </a:br>
            <a:r>
              <a:rPr lang="en-US" sz="4000" u="sng" dirty="0">
                <a:solidFill>
                  <a:srgbClr val="D6E0EB"/>
                </a:solidFill>
                <a:latin typeface="Algerian" panose="04020705040A02060702" pitchFamily="82" charset="0"/>
              </a:rPr>
              <a:t> Exploratory</a:t>
            </a:r>
            <a:br>
              <a:rPr lang="en-US" sz="4000" u="sng" dirty="0">
                <a:solidFill>
                  <a:srgbClr val="D6E0EB"/>
                </a:solidFill>
                <a:latin typeface="Algerian" panose="04020705040A02060702" pitchFamily="82" charset="0"/>
              </a:rPr>
            </a:br>
            <a:r>
              <a:rPr lang="en-US" sz="4000" u="sng" dirty="0">
                <a:solidFill>
                  <a:srgbClr val="D6E0EB"/>
                </a:solidFill>
                <a:latin typeface="Algerian" panose="04020705040A02060702" pitchFamily="82" charset="0"/>
              </a:rPr>
              <a:t>Data Analysis</a:t>
            </a:r>
            <a:br>
              <a:rPr lang="en-US" sz="4000" u="sng" dirty="0">
                <a:solidFill>
                  <a:srgbClr val="D6E0EB"/>
                </a:solidFill>
                <a:latin typeface="Algerian" panose="04020705040A02060702" pitchFamily="82" charset="0"/>
              </a:rPr>
            </a:br>
            <a:endParaRPr lang="en-US" sz="4000" u="sng" dirty="0">
              <a:solidFill>
                <a:srgbClr val="D6E0EB"/>
              </a:solidFill>
              <a:latin typeface="Algerian" panose="04020705040A02060702" pitchFamily="82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lgerian" panose="04020705040A02060702" pitchFamily="82" charset="0"/>
              </a:rPr>
              <a:t>By: </a:t>
            </a:r>
            <a:r>
              <a:rPr lang="en-US" sz="2800" dirty="0" err="1">
                <a:latin typeface="Algerian" panose="04020705040A02060702" pitchFamily="82" charset="0"/>
              </a:rPr>
              <a:t>Bidhismita</a:t>
            </a:r>
            <a:r>
              <a:rPr lang="en-US" sz="2800" dirty="0">
                <a:latin typeface="Algerian" panose="04020705040A02060702" pitchFamily="82" charset="0"/>
              </a:rPr>
              <a:t> Sahoo 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411607A-C46A-4749-06DD-B3A5F1D9B12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6518" r="6518"/>
          <a:stretch>
            <a:fillRect/>
          </a:stretch>
        </p:blipFill>
        <p:spPr>
          <a:xfrm>
            <a:off x="6279979" y="371150"/>
            <a:ext cx="5330658" cy="613027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E3631-EBCB-B340-A21E-B46BF651D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632B20-B0AD-C663-8C5E-A16372C0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071CE9-118B-3CDA-FD34-BFC68D185E51}"/>
              </a:ext>
            </a:extLst>
          </p:cNvPr>
          <p:cNvSpPr txBox="1"/>
          <p:nvPr/>
        </p:nvSpPr>
        <p:spPr>
          <a:xfrm>
            <a:off x="3032760" y="2059395"/>
            <a:ext cx="610616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u="sng" dirty="0">
                <a:solidFill>
                  <a:srgbClr val="D6E0EB"/>
                </a:solidFill>
                <a:latin typeface="Algerian" panose="04020705040A02060702" pitchFamily="82" charset="0"/>
              </a:rPr>
              <a:t>Introduction:-</a:t>
            </a:r>
            <a:br>
              <a:rPr lang="en-US" sz="4000" u="sng" dirty="0">
                <a:solidFill>
                  <a:srgbClr val="D6E0EB"/>
                </a:solidFill>
                <a:latin typeface="Algerian" panose="04020705040A02060702" pitchFamily="82" charset="0"/>
              </a:rPr>
            </a:br>
            <a:br>
              <a:rPr lang="en-US" sz="2000" u="sng" dirty="0">
                <a:solidFill>
                  <a:srgbClr val="D6E0EB"/>
                </a:solidFill>
                <a:latin typeface="Algerian" panose="04020705040A02060702" pitchFamily="82" charset="0"/>
              </a:rPr>
            </a:br>
            <a:r>
              <a:rPr lang="en-US" sz="2000" dirty="0">
                <a:solidFill>
                  <a:srgbClr val="D6E0EB"/>
                </a:solidFill>
                <a:latin typeface="Arial Rounded MT Bold" panose="020F0704030504030204" pitchFamily="34" charset="0"/>
              </a:rPr>
              <a:t>The goal of this project is to analyze a large dataset of road accidents to uncover trends, patterns, and key factors contributing to accident severity. The project involves performing in-depth exploratory data analysis (EDA)using “Microsoft power BI” to extract meaningful insights that can help improve road safety.</a:t>
            </a:r>
          </a:p>
        </p:txBody>
      </p:sp>
    </p:spTree>
    <p:extLst>
      <p:ext uri="{BB962C8B-B14F-4D97-AF65-F5344CB8AC3E}">
        <p14:creationId xmlns:p14="http://schemas.microsoft.com/office/powerpoint/2010/main" val="4101297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21E73BA-53B9-C0C1-476A-00736A64A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 anchorCtr="0">
            <a:normAutofit/>
          </a:bodyPr>
          <a:lstStyle/>
          <a:p>
            <a:r>
              <a:rPr lang="en-US" u="sng" dirty="0">
                <a:latin typeface="Arial Rounded MT Bold" panose="020F0704030504030204" pitchFamily="34" charset="0"/>
              </a:rPr>
              <a:t>Project Objectives:-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E4D147-B48C-ADE3-3FEF-627D467699A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3</a:t>
            </a:fld>
            <a:endParaRPr lang="en-US" altLang="zh-CN" noProof="0" dirty="0"/>
          </a:p>
        </p:txBody>
      </p:sp>
      <p:sp>
        <p:nvSpPr>
          <p:cNvPr id="15" name="Slide Number Placeholder 13">
            <a:extLst>
              <a:ext uri="{FF2B5EF4-FFF2-40B4-BE49-F238E27FC236}">
                <a16:creationId xmlns:a16="http://schemas.microsoft.com/office/drawing/2014/main" id="{55AB7753-4245-72E4-BEDB-33038672BA35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829C3-69AF-315D-E82E-A4CD9FDF685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Arial Rounded MT Bold" panose="020F0704030504030204" pitchFamily="34" charset="0"/>
              </a:rPr>
              <a:t>Analyze accident trends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Arial Rounded MT Bold" panose="020F0704030504030204" pitchFamily="34" charset="0"/>
              </a:rPr>
              <a:t>Identify accident causes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Arial Rounded MT Bold" panose="020F0704030504030204" pitchFamily="34" charset="0"/>
              </a:rPr>
              <a:t>Study weather impact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Arial Rounded MT Bold" panose="020F0704030504030204" pitchFamily="34" charset="0"/>
              </a:rPr>
              <a:t>Build dashboard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Arial Rounded MT Bold" panose="020F0704030504030204" pitchFamily="34" charset="0"/>
              </a:rPr>
              <a:t>Generate insights</a:t>
            </a:r>
          </a:p>
        </p:txBody>
      </p:sp>
    </p:spTree>
    <p:extLst>
      <p:ext uri="{BB962C8B-B14F-4D97-AF65-F5344CB8AC3E}">
        <p14:creationId xmlns:p14="http://schemas.microsoft.com/office/powerpoint/2010/main" val="2519727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BDD24-EF52-DBBF-37DB-030CA24A7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u="sng" dirty="0">
                <a:latin typeface="Arial Rounded MT Bold" panose="020F0704030504030204" pitchFamily="34" charset="0"/>
              </a:rPr>
              <a:t>Dataset Description:-</a:t>
            </a:r>
            <a:br>
              <a:rPr lang="en-US" sz="3100" u="sng" dirty="0">
                <a:latin typeface="Arial Rounded MT Bold" panose="020F0704030504030204" pitchFamily="34" charset="0"/>
              </a:rPr>
            </a:br>
            <a:br>
              <a:rPr lang="en-US" sz="3100" u="sng" dirty="0">
                <a:latin typeface="Algerian" panose="04020705040A02060702" pitchFamily="82" charset="0"/>
              </a:rPr>
            </a:br>
            <a:r>
              <a:rPr lang="en-US" sz="3100" dirty="0">
                <a:latin typeface="+mn-lt"/>
              </a:rPr>
              <a:t>The dataset was downloaded from Kaggle. It contains road accident details such as:-</a:t>
            </a:r>
            <a:br>
              <a:rPr lang="en-US" sz="3100" dirty="0">
                <a:latin typeface="+mn-lt"/>
              </a:rPr>
            </a:br>
            <a:r>
              <a:rPr lang="en-US" sz="3100" dirty="0">
                <a:latin typeface="+mn-lt"/>
              </a:rPr>
              <a:t>Time, Location, Weather, Visibility, Severity</a:t>
            </a:r>
            <a:br>
              <a:rPr lang="en-US" sz="3100" dirty="0">
                <a:latin typeface="+mn-lt"/>
              </a:rPr>
            </a:br>
            <a:br>
              <a:rPr lang="en-US" sz="3100" dirty="0">
                <a:latin typeface="+mn-lt"/>
              </a:rPr>
            </a:br>
            <a:r>
              <a:rPr lang="en-US" sz="3100" u="sng">
                <a:latin typeface="Arial Rounded MT Bold" panose="020F0704030504030204" pitchFamily="34" charset="0"/>
              </a:rPr>
              <a:t>Tools Used:-</a:t>
            </a:r>
            <a:br>
              <a:rPr lang="en-US" sz="3100" u="sng" dirty="0">
                <a:latin typeface="Arial Rounded MT Bold" panose="020F0704030504030204" pitchFamily="34" charset="0"/>
              </a:rPr>
            </a:br>
            <a:r>
              <a:rPr lang="en-US" sz="3100" b="0" dirty="0">
                <a:latin typeface="Arial Rounded MT Bold" panose="020F0704030504030204" pitchFamily="34" charset="0"/>
              </a:rPr>
              <a:t>1. </a:t>
            </a:r>
            <a:r>
              <a:rPr lang="en-US" sz="3100" dirty="0">
                <a:latin typeface="+mn-lt"/>
              </a:rPr>
              <a:t>Microsoft Excel </a:t>
            </a:r>
            <a:br>
              <a:rPr lang="en-US" sz="3100" dirty="0">
                <a:latin typeface="+mn-lt"/>
              </a:rPr>
            </a:br>
            <a:r>
              <a:rPr lang="en-US" sz="3100" dirty="0">
                <a:latin typeface="+mn-lt"/>
              </a:rPr>
              <a:t>2. Microsoft Power BI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53349757-F10E-8386-555E-94A0AC90FB86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2"/>
          <a:srcRect l="8538" r="8538"/>
          <a:stretch>
            <a:fillRect/>
          </a:stretch>
        </p:blipFill>
        <p:spPr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960494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BD3923-429B-BADA-5792-F5A9C661BC2C}"/>
              </a:ext>
            </a:extLst>
          </p:cNvPr>
          <p:cNvSpPr txBox="1"/>
          <p:nvPr/>
        </p:nvSpPr>
        <p:spPr>
          <a:xfrm>
            <a:off x="3048000" y="126417"/>
            <a:ext cx="60960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Project Workflow</a:t>
            </a:r>
          </a:p>
          <a:p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Data Downloading</a:t>
            </a:r>
          </a:p>
          <a:p>
            <a:r>
              <a:rPr lang="en-US" sz="2000" dirty="0">
                <a:solidFill>
                  <a:schemeClr val="bg1"/>
                </a:solidFill>
              </a:rPr>
              <a:t>	↓</a:t>
            </a:r>
          </a:p>
          <a:p>
            <a:r>
              <a:rPr lang="en-US" sz="2000" dirty="0">
                <a:solidFill>
                  <a:schemeClr val="bg1"/>
                </a:solidFill>
              </a:rPr>
              <a:t>Data Cleaning</a:t>
            </a:r>
          </a:p>
          <a:p>
            <a:r>
              <a:rPr lang="en-US" sz="2000" dirty="0">
                <a:solidFill>
                  <a:schemeClr val="bg1"/>
                </a:solidFill>
              </a:rPr>
              <a:t>	↓</a:t>
            </a:r>
          </a:p>
          <a:p>
            <a:r>
              <a:rPr lang="en-US" sz="2000" dirty="0">
                <a:solidFill>
                  <a:schemeClr val="bg1"/>
                </a:solidFill>
              </a:rPr>
              <a:t>Data Preprocessing</a:t>
            </a:r>
          </a:p>
          <a:p>
            <a:r>
              <a:rPr lang="en-US" sz="2000" dirty="0">
                <a:solidFill>
                  <a:schemeClr val="bg1"/>
                </a:solidFill>
              </a:rPr>
              <a:t>	↓</a:t>
            </a:r>
          </a:p>
          <a:p>
            <a:r>
              <a:rPr lang="en-US" sz="2000" dirty="0">
                <a:solidFill>
                  <a:schemeClr val="bg1"/>
                </a:solidFill>
              </a:rPr>
              <a:t>Data Modeling</a:t>
            </a:r>
          </a:p>
          <a:p>
            <a:r>
              <a:rPr lang="en-US" sz="2000" dirty="0">
                <a:solidFill>
                  <a:schemeClr val="bg1"/>
                </a:solidFill>
              </a:rPr>
              <a:t>	↓</a:t>
            </a:r>
          </a:p>
          <a:p>
            <a:r>
              <a:rPr lang="en-US" sz="2000" dirty="0">
                <a:solidFill>
                  <a:schemeClr val="bg1"/>
                </a:solidFill>
              </a:rPr>
              <a:t>Univariate Analysis</a:t>
            </a:r>
          </a:p>
          <a:p>
            <a:r>
              <a:rPr lang="en-US" sz="2000" dirty="0">
                <a:solidFill>
                  <a:schemeClr val="bg1"/>
                </a:solidFill>
              </a:rPr>
              <a:t>	↓</a:t>
            </a:r>
          </a:p>
          <a:p>
            <a:r>
              <a:rPr lang="en-US" sz="2000" dirty="0">
                <a:solidFill>
                  <a:schemeClr val="bg1"/>
                </a:solidFill>
              </a:rPr>
              <a:t>Bivariate &amp; Multivariate Analysis</a:t>
            </a:r>
          </a:p>
          <a:p>
            <a:r>
              <a:rPr lang="en-US" sz="2000" dirty="0">
                <a:solidFill>
                  <a:schemeClr val="bg1"/>
                </a:solidFill>
              </a:rPr>
              <a:t>	↓</a:t>
            </a:r>
          </a:p>
          <a:p>
            <a:r>
              <a:rPr lang="en-US" sz="2000" dirty="0">
                <a:solidFill>
                  <a:schemeClr val="bg1"/>
                </a:solidFill>
              </a:rPr>
              <a:t>DAX Calculation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	↓</a:t>
            </a:r>
          </a:p>
          <a:p>
            <a:r>
              <a:rPr lang="en-US" sz="2000" dirty="0">
                <a:solidFill>
                  <a:schemeClr val="bg1"/>
                </a:solidFill>
              </a:rPr>
              <a:t>Geospatial Analysis</a:t>
            </a:r>
          </a:p>
          <a:p>
            <a:r>
              <a:rPr lang="en-US" sz="2000" dirty="0">
                <a:solidFill>
                  <a:schemeClr val="bg1"/>
                </a:solidFill>
              </a:rPr>
              <a:t>	↓</a:t>
            </a:r>
          </a:p>
          <a:p>
            <a:r>
              <a:rPr lang="en-US" sz="2000" dirty="0">
                <a:solidFill>
                  <a:schemeClr val="bg1"/>
                </a:solidFill>
              </a:rPr>
              <a:t>Data Visualization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	↓</a:t>
            </a:r>
          </a:p>
          <a:p>
            <a:r>
              <a:rPr lang="en-US" sz="2000" dirty="0">
                <a:solidFill>
                  <a:schemeClr val="bg1"/>
                </a:solidFill>
              </a:rPr>
              <a:t>Dashboard Data Preparation Section</a:t>
            </a:r>
          </a:p>
        </p:txBody>
      </p:sp>
    </p:spTree>
    <p:extLst>
      <p:ext uri="{BB962C8B-B14F-4D97-AF65-F5344CB8AC3E}">
        <p14:creationId xmlns:p14="http://schemas.microsoft.com/office/powerpoint/2010/main" val="2000894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83C2-0733-9405-B91C-EB25DDEBB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429359"/>
            <a:ext cx="4441188" cy="5950297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600" u="sng" dirty="0">
                <a:latin typeface="Arial Rounded MT Bold" panose="020F0704030504030204" pitchFamily="34" charset="0"/>
              </a:rPr>
              <a:t>Data Preparation:-</a:t>
            </a:r>
            <a:br>
              <a:rPr lang="en-US" sz="2600" u="sng" dirty="0">
                <a:latin typeface="Arial Rounded MT Bold" panose="020F0704030504030204" pitchFamily="34" charset="0"/>
              </a:rPr>
            </a:br>
            <a:br>
              <a:rPr lang="en-US" sz="2600" dirty="0"/>
            </a:br>
            <a:r>
              <a:rPr lang="en-US" sz="2600" u="sng" dirty="0"/>
              <a:t>Data Downloading:-</a:t>
            </a:r>
            <a:br>
              <a:rPr lang="en-US" sz="2600" u="sng" dirty="0"/>
            </a:br>
            <a:r>
              <a:rPr lang="en-US" sz="2600" dirty="0"/>
              <a:t>1. Download dataset from Kaggle.</a:t>
            </a:r>
            <a:br>
              <a:rPr lang="en-US" sz="2600" dirty="0"/>
            </a:br>
            <a:br>
              <a:rPr lang="en-US" sz="2600" dirty="0"/>
            </a:br>
            <a:r>
              <a:rPr lang="en-US" sz="2600" u="sng" dirty="0"/>
              <a:t>Data Cleaning:-</a:t>
            </a:r>
            <a:br>
              <a:rPr lang="en-US" sz="2600" u="sng" dirty="0"/>
            </a:br>
            <a:r>
              <a:rPr lang="en-US" sz="2600" dirty="0"/>
              <a:t>1. Remove missing values.</a:t>
            </a:r>
            <a:br>
              <a:rPr lang="en-US" sz="2600" dirty="0"/>
            </a:br>
            <a:r>
              <a:rPr lang="en-US" sz="2600" dirty="0"/>
              <a:t>2. Remove duplicate.</a:t>
            </a:r>
            <a:br>
              <a:rPr lang="en-US" sz="2600" dirty="0"/>
            </a:br>
            <a:br>
              <a:rPr lang="en-US" sz="2600" dirty="0"/>
            </a:br>
            <a:r>
              <a:rPr lang="en-US" sz="2600" u="sng" dirty="0"/>
              <a:t>Data Preprocessing:- </a:t>
            </a:r>
            <a:br>
              <a:rPr lang="en-US" sz="2600" u="sng" dirty="0"/>
            </a:br>
            <a:r>
              <a:rPr lang="en-US" sz="2600" dirty="0"/>
              <a:t>1. Create new columns.</a:t>
            </a:r>
            <a:br>
              <a:rPr lang="en-US" sz="2600" dirty="0"/>
            </a:br>
            <a:r>
              <a:rPr lang="en-US" sz="2600" dirty="0"/>
              <a:t>2. Convert date &amp; time.</a:t>
            </a:r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838CECF9-EE01-469A-8B94-349DEAE382FB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2"/>
          <a:srcRect l="8984" r="8984"/>
          <a:stretch>
            <a:fillRect/>
          </a:stretch>
        </p:blipFill>
        <p:spPr>
          <a:xfrm>
            <a:off x="663139" y="250546"/>
            <a:ext cx="5527728" cy="6356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43777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BCE96-2FE7-0446-1131-3E9B49B3D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945707"/>
            <a:ext cx="4441188" cy="4917601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u="sng" dirty="0">
                <a:latin typeface="Arial Rounded MT Bold" panose="020F0704030504030204" pitchFamily="34" charset="0"/>
              </a:rPr>
              <a:t>Data Modelling:-</a:t>
            </a:r>
            <a:br>
              <a:rPr lang="en-US" sz="3600" u="sng" dirty="0">
                <a:latin typeface="Arial Rounded MT Bold" panose="020F0704030504030204" pitchFamily="34" charset="0"/>
              </a:rPr>
            </a:br>
            <a:br>
              <a:rPr lang="en-US" sz="3600" u="sng" dirty="0">
                <a:latin typeface="Arial Rounded MT Bold" panose="020F0704030504030204" pitchFamily="34" charset="0"/>
              </a:rPr>
            </a:br>
            <a:r>
              <a:rPr lang="en-US" sz="2800" dirty="0"/>
              <a:t>Created relationships</a:t>
            </a:r>
            <a:br>
              <a:rPr lang="en-US" sz="2800" dirty="0"/>
            </a:br>
            <a:r>
              <a:rPr lang="en-US" sz="2800" dirty="0"/>
              <a:t>Organized dataset</a:t>
            </a:r>
            <a:br>
              <a:rPr lang="en-US" sz="2800" dirty="0"/>
            </a:br>
            <a:r>
              <a:rPr lang="en-US" sz="2800" dirty="0"/>
              <a:t>Built data model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6EB2981A-2CF3-E43B-D336-74C2C9E5E843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2"/>
          <a:srcRect l="6525" r="6525"/>
          <a:stretch>
            <a:fillRect/>
          </a:stretch>
        </p:blipFill>
        <p:spPr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89664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7B91A-CC7B-80E8-857B-9B68FDD9D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000" u="sng" dirty="0">
                <a:latin typeface="Arial Rounded MT Bold" panose="020F0704030504030204" pitchFamily="34" charset="0"/>
              </a:rPr>
              <a:t>Types of EDA:-</a:t>
            </a:r>
            <a:br>
              <a:rPr lang="en-US" sz="4000" u="sng" dirty="0">
                <a:latin typeface="Arial Rounded MT Bold" panose="020F0704030504030204" pitchFamily="34" charset="0"/>
              </a:rPr>
            </a:br>
            <a:br>
              <a:rPr lang="en-US" sz="4000" u="sng" dirty="0">
                <a:latin typeface="Arial Rounded MT Bold" panose="020F0704030504030204" pitchFamily="34" charset="0"/>
              </a:rPr>
            </a:br>
            <a:r>
              <a:rPr lang="en-US" sz="3100" dirty="0"/>
              <a:t>Univariate Analysis</a:t>
            </a:r>
            <a:br>
              <a:rPr lang="en-US" sz="3100" dirty="0"/>
            </a:br>
            <a:r>
              <a:rPr lang="en-US" sz="3100" dirty="0"/>
              <a:t>Bivariate Analysis</a:t>
            </a:r>
            <a:br>
              <a:rPr lang="en-US" sz="3100" dirty="0"/>
            </a:br>
            <a:r>
              <a:rPr lang="en-US" sz="3100" dirty="0"/>
              <a:t>Multivariate Analysis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0BDC4FDA-15E1-41FA-5185-C29986CE8545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2"/>
          <a:srcRect l="5317" r="5317"/>
          <a:stretch>
            <a:fillRect/>
          </a:stretch>
        </p:blipFill>
        <p:spPr>
          <a:xfrm>
            <a:off x="663139" y="250546"/>
            <a:ext cx="5527728" cy="63569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959501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B38E9-7C7D-5FA0-4257-CC24B539C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457200" indent="-457200">
              <a:lnSpc>
                <a:spcPct val="100000"/>
              </a:lnSpc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2800" u="sng" dirty="0">
                <a:latin typeface="Arial Rounded MT Bold" panose="020F0704030504030204" pitchFamily="34" charset="0"/>
              </a:rPr>
              <a:t>Data Analysis:-</a:t>
            </a:r>
            <a:br>
              <a:rPr lang="en-US" sz="2800" u="sng" dirty="0">
                <a:latin typeface="Arial Rounded MT Bold" panose="020F0704030504030204" pitchFamily="34" charset="0"/>
              </a:rPr>
            </a:br>
            <a:br>
              <a:rPr lang="en-US" sz="2800" dirty="0"/>
            </a:br>
            <a:r>
              <a:rPr lang="en-US" sz="2800" b="0" u="sng" dirty="0">
                <a:latin typeface="Arial Rounded MT Bold" panose="020F0704030504030204" pitchFamily="34" charset="0"/>
              </a:rPr>
              <a:t>Univariate Analysis:-</a:t>
            </a:r>
            <a:br>
              <a:rPr lang="en-US" sz="2800" b="0" u="sng" dirty="0">
                <a:latin typeface="Arial Rounded MT Bold" panose="020F0704030504030204" pitchFamily="34" charset="0"/>
              </a:rPr>
            </a:br>
            <a:br>
              <a:rPr lang="en-US" sz="2800" b="0" u="sng" dirty="0">
                <a:latin typeface="Arial Rounded MT Bold" panose="020F0704030504030204" pitchFamily="34" charset="0"/>
              </a:rPr>
            </a:br>
            <a:r>
              <a:rPr lang="en-US" sz="2800" b="0" dirty="0">
                <a:latin typeface="Arial Rounded MT Bold" panose="020F0704030504030204" pitchFamily="34" charset="0"/>
              </a:rPr>
              <a:t>1. Severity distribution</a:t>
            </a:r>
            <a:br>
              <a:rPr lang="en-US" sz="2800" b="0" dirty="0">
                <a:latin typeface="Arial Rounded MT Bold" panose="020F0704030504030204" pitchFamily="34" charset="0"/>
              </a:rPr>
            </a:br>
            <a:r>
              <a:rPr lang="en-US" sz="2800" b="0" dirty="0">
                <a:latin typeface="Arial Rounded MT Bold" panose="020F0704030504030204" pitchFamily="34" charset="0"/>
              </a:rPr>
              <a:t>2. Weather distribution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47EEDE78-F3A3-FABE-A03B-0E91C505004E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2"/>
          <a:srcRect l="7988" r="7988"/>
          <a:stretch>
            <a:fillRect/>
          </a:stretch>
        </p:blipFill>
        <p:spPr>
          <a:xfrm>
            <a:off x="914399" y="539495"/>
            <a:ext cx="5025209" cy="577901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14742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B65D1-BCEF-24D5-BF04-8B518D380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u="sng" dirty="0">
                <a:latin typeface="Arial Rounded MT Bold" panose="020F0704030504030204" pitchFamily="34" charset="0"/>
              </a:rPr>
              <a:t>Bivariate </a:t>
            </a:r>
            <a:br>
              <a:rPr lang="en-US" sz="3200" u="sng" dirty="0">
                <a:latin typeface="Arial Rounded MT Bold" panose="020F0704030504030204" pitchFamily="34" charset="0"/>
              </a:rPr>
            </a:br>
            <a:r>
              <a:rPr lang="en-US" sz="3200" dirty="0">
                <a:latin typeface="Arial Rounded MT Bold" panose="020F0704030504030204" pitchFamily="34" charset="0"/>
              </a:rPr>
              <a:t>         </a:t>
            </a:r>
            <a:r>
              <a:rPr lang="en-US" sz="3200" u="sng" dirty="0">
                <a:latin typeface="Arial Rounded MT Bold" panose="020F0704030504030204" pitchFamily="34" charset="0"/>
              </a:rPr>
              <a:t>&amp;</a:t>
            </a:r>
            <a:br>
              <a:rPr lang="en-US" sz="3200" u="sng" dirty="0">
                <a:latin typeface="Arial Rounded MT Bold" panose="020F0704030504030204" pitchFamily="34" charset="0"/>
              </a:rPr>
            </a:br>
            <a:r>
              <a:rPr lang="en-US" sz="3200" u="sng" dirty="0">
                <a:latin typeface="Arial Rounded MT Bold" panose="020F0704030504030204" pitchFamily="34" charset="0"/>
              </a:rPr>
              <a:t>Multivariate Analysis:-</a:t>
            </a:r>
            <a:br>
              <a:rPr lang="en-US" sz="3200" u="sng" dirty="0">
                <a:latin typeface="Arial Rounded MT Bold" panose="020F0704030504030204" pitchFamily="34" charset="0"/>
              </a:rPr>
            </a:br>
            <a:br>
              <a:rPr lang="en-US" sz="3200" dirty="0"/>
            </a:br>
            <a:r>
              <a:rPr lang="en-US" sz="3200" dirty="0">
                <a:latin typeface="Arial Rounded MT Bold" panose="020F0704030504030204" pitchFamily="34" charset="0"/>
              </a:rPr>
              <a:t>1. Weather vs severity</a:t>
            </a:r>
            <a:br>
              <a:rPr lang="en-US" sz="3200" dirty="0">
                <a:latin typeface="Arial Rounded MT Bold" panose="020F0704030504030204" pitchFamily="34" charset="0"/>
              </a:rPr>
            </a:br>
            <a:r>
              <a:rPr lang="en-US" sz="3200" dirty="0">
                <a:latin typeface="Arial Rounded MT Bold" panose="020F0704030504030204" pitchFamily="34" charset="0"/>
              </a:rPr>
              <a:t>2.Visibility vs accidents</a:t>
            </a:r>
            <a:br>
              <a:rPr lang="en-US" sz="3200" dirty="0">
                <a:latin typeface="Arial Rounded MT Bold" panose="020F0704030504030204" pitchFamily="34" charset="0"/>
              </a:rPr>
            </a:br>
            <a:br>
              <a:rPr lang="en-US" sz="3200" dirty="0">
                <a:latin typeface="Arial Rounded MT Bold" panose="020F0704030504030204" pitchFamily="34" charset="0"/>
              </a:rPr>
            </a:br>
            <a:r>
              <a:rPr lang="en-US" sz="3200" u="sng" dirty="0">
                <a:latin typeface="Arial Rounded MT Bold" panose="020F0704030504030204" pitchFamily="34" charset="0"/>
              </a:rPr>
              <a:t>DAX:-</a:t>
            </a:r>
            <a:br>
              <a:rPr lang="en-US" sz="3200" u="sng" dirty="0">
                <a:latin typeface="Arial Rounded MT Bold" panose="020F0704030504030204" pitchFamily="34" charset="0"/>
              </a:rPr>
            </a:br>
            <a:r>
              <a:rPr lang="en-US" sz="3200" dirty="0">
                <a:latin typeface="Arial Rounded MT Bold" panose="020F0704030504030204" pitchFamily="34" charset="0"/>
              </a:rPr>
              <a:t>1. Total accidents</a:t>
            </a:r>
            <a:br>
              <a:rPr lang="en-US" sz="3200" dirty="0">
                <a:latin typeface="Arial Rounded MT Bold" panose="020F0704030504030204" pitchFamily="34" charset="0"/>
              </a:rPr>
            </a:br>
            <a:r>
              <a:rPr lang="en-US" sz="3200" dirty="0">
                <a:latin typeface="Arial Rounded MT Bold" panose="020F0704030504030204" pitchFamily="34" charset="0"/>
              </a:rPr>
              <a:t>2. Average severity</a:t>
            </a:r>
            <a:br>
              <a:rPr lang="en-US" sz="3200" dirty="0">
                <a:latin typeface="Arial Rounded MT Bold" panose="020F0704030504030204" pitchFamily="34" charset="0"/>
              </a:rPr>
            </a:br>
            <a:endParaRPr lang="en-US" sz="3200" dirty="0">
              <a:latin typeface="Arial Rounded MT Bold" panose="020F0704030504030204" pitchFamily="34" charset="0"/>
            </a:endParaRP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478F4B31-BC62-C55D-1C2E-FE5361D06E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2"/>
          <a:srcRect l="29442" r="29442"/>
          <a:stretch>
            <a:fillRect/>
          </a:stretch>
        </p:blipFill>
        <p:spPr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736374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BEABD-D719-F2A4-BD1D-B427E6F34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200" u="sng" dirty="0">
                <a:latin typeface="Arial Rounded MT Bold" panose="020F0704030504030204" pitchFamily="34" charset="0"/>
              </a:rPr>
              <a:t>Geospatial Analysis:-</a:t>
            </a:r>
            <a:br>
              <a:rPr lang="en-US" sz="3200" u="sng" dirty="0">
                <a:latin typeface="Arial Rounded MT Bold" panose="020F0704030504030204" pitchFamily="34" charset="0"/>
              </a:rPr>
            </a:br>
            <a:br>
              <a:rPr lang="en-US" sz="3200" u="sng" dirty="0">
                <a:latin typeface="Arial Rounded MT Bold" panose="020F0704030504030204" pitchFamily="34" charset="0"/>
              </a:rPr>
            </a:br>
            <a:r>
              <a:rPr lang="en-US" sz="3200" dirty="0">
                <a:latin typeface="Arial Rounded MT Bold" panose="020F0704030504030204" pitchFamily="34" charset="0"/>
              </a:rPr>
              <a:t>1. Accident hotspots</a:t>
            </a:r>
            <a:br>
              <a:rPr lang="en-US" sz="3200" dirty="0">
                <a:latin typeface="Arial Rounded MT Bold" panose="020F0704030504030204" pitchFamily="34" charset="0"/>
              </a:rPr>
            </a:br>
            <a:r>
              <a:rPr lang="en-US" sz="3200" dirty="0">
                <a:latin typeface="Arial Rounded MT Bold" panose="020F0704030504030204" pitchFamily="34" charset="0"/>
              </a:rPr>
              <a:t>2. Location wise accidents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01B204F-FDFF-B7B9-BC0C-37534D96789F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2"/>
          <a:srcRect l="6525" r="6525"/>
          <a:stretch>
            <a:fillRect/>
          </a:stretch>
        </p:blipFill>
        <p:spPr>
          <a:xfrm>
            <a:off x="663139" y="250546"/>
            <a:ext cx="5527728" cy="6356909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76290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6A0E0-D42A-9578-0B32-59B13A3E6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u="sng" dirty="0">
                <a:latin typeface="Arial Rounded MT Bold" panose="020F0704030504030204" pitchFamily="34" charset="0"/>
              </a:rPr>
              <a:t>Dashboard &amp; Insights:-</a:t>
            </a:r>
            <a:br>
              <a:rPr lang="en-US" sz="2800" u="sng" dirty="0">
                <a:latin typeface="Arial Rounded MT Bold" panose="020F0704030504030204" pitchFamily="34" charset="0"/>
              </a:rPr>
            </a:br>
            <a:br>
              <a:rPr lang="en-US" sz="2800" dirty="0">
                <a:latin typeface="Arial Rounded MT Bold" panose="020F0704030504030204" pitchFamily="34" charset="0"/>
              </a:rPr>
            </a:br>
            <a:r>
              <a:rPr lang="en-US" sz="2800" u="sng" dirty="0">
                <a:latin typeface="Arial Rounded MT Bold" panose="020F0704030504030204" pitchFamily="34" charset="0"/>
              </a:rPr>
              <a:t>Dashboard includes:</a:t>
            </a:r>
            <a:br>
              <a:rPr lang="en-US" sz="2800" u="sng" dirty="0">
                <a:latin typeface="Arial Rounded MT Bold" panose="020F0704030504030204" pitchFamily="34" charset="0"/>
              </a:rPr>
            </a:br>
            <a:r>
              <a:rPr lang="en-US" sz="2800" dirty="0">
                <a:latin typeface="Arial Rounded MT Bold" panose="020F0704030504030204" pitchFamily="34" charset="0"/>
              </a:rPr>
              <a:t>1. KPI cards</a:t>
            </a:r>
            <a:br>
              <a:rPr lang="en-US" sz="2800" dirty="0">
                <a:latin typeface="Arial Rounded MT Bold" panose="020F0704030504030204" pitchFamily="34" charset="0"/>
              </a:rPr>
            </a:br>
            <a:r>
              <a:rPr lang="en-US" sz="2800" dirty="0">
                <a:latin typeface="Arial Rounded MT Bold" panose="020F0704030504030204" pitchFamily="34" charset="0"/>
              </a:rPr>
              <a:t>2. Charts</a:t>
            </a:r>
            <a:br>
              <a:rPr lang="en-US" sz="2800" dirty="0">
                <a:latin typeface="Arial Rounded MT Bold" panose="020F0704030504030204" pitchFamily="34" charset="0"/>
              </a:rPr>
            </a:br>
            <a:r>
              <a:rPr lang="en-US" sz="2800" dirty="0">
                <a:latin typeface="Arial Rounded MT Bold" panose="020F0704030504030204" pitchFamily="34" charset="0"/>
              </a:rPr>
              <a:t>3. Maps</a:t>
            </a:r>
            <a:br>
              <a:rPr lang="en-US" sz="2800" dirty="0">
                <a:latin typeface="Arial Rounded MT Bold" panose="020F0704030504030204" pitchFamily="34" charset="0"/>
              </a:rPr>
            </a:br>
            <a:r>
              <a:rPr lang="en-US" sz="2800" dirty="0">
                <a:latin typeface="Arial Rounded MT Bold" panose="020F0704030504030204" pitchFamily="34" charset="0"/>
              </a:rPr>
              <a:t>4. Slicers</a:t>
            </a:r>
            <a:br>
              <a:rPr lang="en-US" sz="2800" dirty="0">
                <a:latin typeface="Arial Rounded MT Bold" panose="020F0704030504030204" pitchFamily="34" charset="0"/>
              </a:rPr>
            </a:br>
            <a:br>
              <a:rPr lang="en-US" sz="2800" dirty="0">
                <a:latin typeface="Arial Rounded MT Bold" panose="020F0704030504030204" pitchFamily="34" charset="0"/>
              </a:rPr>
            </a:br>
            <a:r>
              <a:rPr lang="en-US" sz="2800" u="sng" dirty="0">
                <a:latin typeface="Arial Rounded MT Bold" panose="020F0704030504030204" pitchFamily="34" charset="0"/>
              </a:rPr>
              <a:t>Key Insights:</a:t>
            </a:r>
            <a:br>
              <a:rPr lang="en-US" sz="2800" u="sng" dirty="0">
                <a:latin typeface="Arial Rounded MT Bold" panose="020F0704030504030204" pitchFamily="34" charset="0"/>
              </a:rPr>
            </a:br>
            <a:r>
              <a:rPr lang="en-US" sz="2800" dirty="0">
                <a:latin typeface="Arial Rounded MT Bold" panose="020F0704030504030204" pitchFamily="34" charset="0"/>
              </a:rPr>
              <a:t>1. Most accidents occur in evening.</a:t>
            </a:r>
            <a:br>
              <a:rPr lang="en-US" sz="2800" dirty="0">
                <a:latin typeface="Arial Rounded MT Bold" panose="020F0704030504030204" pitchFamily="34" charset="0"/>
              </a:rPr>
            </a:br>
            <a:r>
              <a:rPr lang="en-US" sz="2800" dirty="0">
                <a:latin typeface="Arial Rounded MT Bold" panose="020F0704030504030204" pitchFamily="34" charset="0"/>
              </a:rPr>
              <a:t>2. Rain increases accidents.</a:t>
            </a:r>
            <a:br>
              <a:rPr lang="en-US" sz="2800" dirty="0">
                <a:latin typeface="Arial Rounded MT Bold" panose="020F0704030504030204" pitchFamily="34" charset="0"/>
              </a:rPr>
            </a:br>
            <a:r>
              <a:rPr lang="en-US" sz="2800" dirty="0">
                <a:latin typeface="Arial Rounded MT Bold" panose="020F0704030504030204" pitchFamily="34" charset="0"/>
              </a:rPr>
              <a:t>3. Low visibility causes accidents.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BAEDE7F0-2E75-5F66-B1D4-2069FCAE2C80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2"/>
          <a:srcRect l="22023" r="22023"/>
          <a:stretch>
            <a:fillRect/>
          </a:stretch>
        </p:blipFill>
        <p:spPr>
          <a:xfrm>
            <a:off x="914400" y="539496"/>
            <a:ext cx="5025207" cy="577900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50472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CB2A4-6FBB-19C9-498E-961A228BB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934565"/>
            <a:ext cx="5394960" cy="5454954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u="sng" dirty="0">
                <a:latin typeface="Arial Rounded MT Bold" panose="020F0704030504030204" pitchFamily="34" charset="0"/>
              </a:rPr>
              <a:t>Conclusion:-</a:t>
            </a:r>
            <a:br>
              <a:rPr lang="en-US" sz="3200" u="sng" dirty="0">
                <a:latin typeface="Arial Rounded MT Bold" panose="020F0704030504030204" pitchFamily="34" charset="0"/>
              </a:rPr>
            </a:br>
            <a:br>
              <a:rPr lang="en-US" sz="2400" dirty="0"/>
            </a:br>
            <a:r>
              <a:rPr lang="en-US" sz="2400" dirty="0"/>
              <a:t>1. </a:t>
            </a:r>
            <a:r>
              <a:rPr lang="en-US" sz="2400" dirty="0">
                <a:latin typeface="Arial Rounded MT Bold" panose="020F0704030504030204" pitchFamily="34" charset="0"/>
              </a:rPr>
              <a:t>Data analysis improves road safety.</a:t>
            </a:r>
            <a:br>
              <a:rPr lang="en-US" sz="2400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2. Weather affects accidents.</a:t>
            </a:r>
            <a:br>
              <a:rPr lang="en-US" sz="2400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3. Dashboard helps in decision making.</a:t>
            </a:r>
          </a:p>
        </p:txBody>
      </p:sp>
    </p:spTree>
    <p:extLst>
      <p:ext uri="{BB962C8B-B14F-4D97-AF65-F5344CB8AC3E}">
        <p14:creationId xmlns:p14="http://schemas.microsoft.com/office/powerpoint/2010/main" val="1467970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FDDAE-A535-9782-5099-66BE97EB4CC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>
            <a:noAutofit/>
          </a:bodyPr>
          <a:lstStyle/>
          <a:p>
            <a:r>
              <a:rPr lang="en-US" sz="6600" b="1" u="sng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2304090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163</TotalTime>
  <Words>425</Words>
  <Application>Microsoft Office PowerPoint</Application>
  <PresentationFormat>Widescreen</PresentationFormat>
  <Paragraphs>45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等线</vt:lpstr>
      <vt:lpstr>Abadi</vt:lpstr>
      <vt:lpstr>Algerian</vt:lpstr>
      <vt:lpstr>Arial</vt:lpstr>
      <vt:lpstr>Arial Rounded MT Bold</vt:lpstr>
      <vt:lpstr>Calibri</vt:lpstr>
      <vt:lpstr>Posterama</vt:lpstr>
      <vt:lpstr>Posterama Text SemiBold</vt:lpstr>
      <vt:lpstr>Wingdings</vt:lpstr>
      <vt:lpstr>Custom</vt:lpstr>
      <vt:lpstr>“Road Accidents” &amp;  Exploratory Data Analysis </vt:lpstr>
      <vt:lpstr>PowerPoint Presentation</vt:lpstr>
      <vt:lpstr>Project Objectives:-</vt:lpstr>
      <vt:lpstr>Dataset Description:-  The dataset was downloaded from Kaggle. It contains road accident details such as:- Time, Location, Weather, Visibility, Severity  Tools Used:- 1. Microsoft Excel  2. Microsoft Power BI</vt:lpstr>
      <vt:lpstr>PowerPoint Presentation</vt:lpstr>
      <vt:lpstr>Data Preparation:-  Data Downloading:- 1. Download dataset from Kaggle.  Data Cleaning:- 1. Remove missing values. 2. Remove duplicate.  Data Preprocessing:-  1. Create new columns. 2. Convert date &amp; time.</vt:lpstr>
      <vt:lpstr>Data Modelling:-  Created relationships Organized dataset Built data model</vt:lpstr>
      <vt:lpstr>Types of EDA:-  Univariate Analysis Bivariate Analysis Multivariate Analysis</vt:lpstr>
      <vt:lpstr>Data Analysis:-  Univariate Analysis:-  1. Severity distribution 2. Weather distribution</vt:lpstr>
      <vt:lpstr>Bivariate           &amp; Multivariate Analysis:-  1. Weather vs severity 2.Visibility vs accidents  DAX:- 1. Total accidents 2. Average severity </vt:lpstr>
      <vt:lpstr>Geospatial Analysis:-  1. Accident hotspots 2. Location wise accidents</vt:lpstr>
      <vt:lpstr>Dashboard &amp; Insights:-  Dashboard includes: 1. KPI cards 2. Charts 3. Maps 4. Slicers  Key Insights: 1. Most accidents occur in evening. 2. Rain increases accidents. 3. Low visibility causes accidents.</vt:lpstr>
      <vt:lpstr>Conclusion:-  1. Data analysis improves road safety. 2. Weather affects accidents. 3. Dashboard helps in decision making.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mswarup2005@gmail.com</dc:creator>
  <cp:lastModifiedBy>mswarup2005@gmail.com</cp:lastModifiedBy>
  <cp:revision>2</cp:revision>
  <dcterms:created xsi:type="dcterms:W3CDTF">2026-04-09T07:52:15Z</dcterms:created>
  <dcterms:modified xsi:type="dcterms:W3CDTF">2026-04-09T10:36:18Z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